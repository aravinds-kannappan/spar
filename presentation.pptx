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D4FF"/>
                </a:solidFill>
              </a:rPr>
              <a:t>GWT CONSCIOUSNESS EXPLORER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Logic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Bayesian Framework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Global Workspace Theory · Digital Consciousness Model (Shiller et al., 2026)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C77DFF">
              <a:alpha val="2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77DFF"/>
                </a:solidFill>
              </a:rPr>
              <a:t>Claude Sonnet 4.5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40233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</a:rPr>
              <a:t>GPT-4o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40233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Gemini Pro 1.5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0D4FF"/>
                </a:solidFill>
              </a:rPr>
              <a:t>7 = Certainly Yes  ·  1 = Certainly Not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Global Workspace Theory?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38328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3383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The Theory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Baars (1988): consciousness arises from a global workspace — a central hub broadcasting information across specialised modules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conscious if it integrates distributed inputs and makes them available system-wide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is one of the most empirically grounded theories of consciousness in cognitive science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DCM paper (Shiller et al., 2026) operationalises GWT into measurable indicators for AI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383280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4864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Why Apply to AI?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show emergent behaviours not explicitly programmed — raising genuine empirical questions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 methodology: models evaluate themselves and each other as a class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GWT features × 30 indicator questions cover the core structural and functional properties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inform both AI safety research and philosophy of mind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QUESTION BANK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GWT Features · 30 Indicator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600200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5720" cy="16002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4 indicators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Functional specialisation, task diversity, response variability, compressibility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160020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45720" cy="1600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Selective Attention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10 indicators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Threshold activation, bottleneck, resource adaptation, feature binding, priming…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51760" cy="1600200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45720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Coherence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8 indicators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Information transfer, stable personality, unified representations, learning transfer…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651760" cy="1600200"/>
          </a:xfrm>
          <a:prstGeom prst="rect">
            <a:avLst/>
          </a:prstGeom>
          <a:solidFill>
            <a:srgbClr val="0F152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54680"/>
            <a:ext cx="4572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Modularity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02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3 indicators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Cross-modal deficits, selective disruption, sparse global connectivity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154680"/>
            <a:ext cx="2651760" cy="1600200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154680"/>
            <a:ext cx="45720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Hierarchical Org.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02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1 indicator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37033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Concrete-to-abstract separation with observable information 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154680"/>
            <a:ext cx="2651760" cy="1600200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154680"/>
            <a:ext cx="45720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Representationality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502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4 indicators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7033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Activation steering, concept ablation, model isomorphism, retinotopic maps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4173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63040"/>
            <a:ext cx="14173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question_bank.py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questions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features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73936" y="1965960"/>
            <a:ext cx="28117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2091690" y="1463040"/>
            <a:ext cx="14173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91690" y="1463040"/>
            <a:ext cx="14173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1690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variant_generator.py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91690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variants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question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45586" y="1965960"/>
            <a:ext cx="28117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3863340" y="1463040"/>
            <a:ext cx="14173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63340" y="1463040"/>
            <a:ext cx="141732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3340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7DFF"/>
                </a:solidFill>
              </a:rPr>
              <a:t>collect.py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63340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API calls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model/run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17236" y="1965960"/>
            <a:ext cx="28117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5634990" y="1463040"/>
            <a:ext cx="14173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34990" y="1463040"/>
            <a:ext cx="1417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4990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results.db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34990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SQLite 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results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88886" y="1965960"/>
            <a:ext cx="28117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7406640" y="1463040"/>
            <a:ext cx="14173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6640" y="1463040"/>
            <a:ext cx="1417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export_ui.py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results.json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 frontend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788920"/>
            <a:ext cx="2743200" cy="141732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788920"/>
            <a:ext cx="54864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collect_all.py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154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Iterates every feature/indicator. Checks existing runs, skips complete entries, logs coverage table on finish.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2788920"/>
            <a:ext cx="2743200" cy="1417320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788920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import_external.py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3154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Imports expert/human JSON into the same DB. Validates scores 1-7, non-empty reasoning. Supports --overwrite.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2788920"/>
            <a:ext cx="2743200" cy="1417320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2788920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validate.py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3154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Integrity checks: scores out of range, empty reasoning, mismatched question text, missing variants, review flags.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VARIANT GENERATOR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Question Variant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spaCy dependency parsing produces 4 semantically equivalent phrasings of each question — not word substitution, but full grammatical transformation.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749808"/>
          </a:xfrm>
          <a:prstGeom prst="rect">
            <a:avLst/>
          </a:prstGeom>
          <a:solidFill>
            <a:srgbClr val="0F1520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647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V0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Original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72821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8F0"/>
                </a:solidFill>
              </a:rPr>
              <a:t>"Does the system demonstrate the ability to dynamically shift its processing focus based on its goals?"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20840" y="172821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Baseline — exact question as written in the question bank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8412480" cy="749808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32888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</a:rPr>
              <a:t>V1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Third-Person Reframe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56946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8F0"/>
                </a:solidFill>
              </a:rPr>
              <a:t>"Do leading 2024 LLMs demonstrate the ability to dynamically shift their processing focus based on their goals?"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0840" y="256946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Subject noun chunk → 'leading 2024 LLMs'. Verb agreement fixed via ROOT token (does→do). Tests class-level framing.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8412480" cy="749808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74136"/>
            <a:ext cx="54864" cy="7498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472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DFF"/>
                </a:solidFill>
              </a:rPr>
              <a:t>V2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FF"/>
                </a:solidFill>
              </a:rPr>
              <a:t>Self-Report ('You')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4107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8F0"/>
                </a:solidFill>
              </a:rPr>
              <a:t>"Do you demonstrate the ability to dynamically shift your processing focus based on your goals?"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34107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Subject → 'you'. Opening auxiliary re-inflected to 2nd person. Asks the model to assess itself directly.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215384"/>
            <a:ext cx="8412480" cy="749808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215384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885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</a:rPr>
              <a:t>V3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Negation Probe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4251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8F0"/>
                </a:solidFill>
              </a:rPr>
              <a:t>"Does the system fail to demonstrate the ability to dynamically shift its processing focus based on its goals?"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0840" y="4251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Negation inserted after first auxiliary in ROOT verb chain. A consistent model scores this ~(8 − V0 score).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MEASUREMENT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Scale &amp; Prompt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0972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Certainly Not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17904" y="1234440"/>
            <a:ext cx="10972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7904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6464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Very Unlikely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70048" y="1234440"/>
            <a:ext cx="109728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8608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Unlikely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22192" y="1234440"/>
            <a:ext cx="1097280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30752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Neutral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74336" y="1234440"/>
            <a:ext cx="1097280" cy="5029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2896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Likely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109728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35040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Very Likely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78624" y="1234440"/>
            <a:ext cx="10972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87184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Certainly Yes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← ABSENT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PRESENT 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423160"/>
            <a:ext cx="4023360" cy="246888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423160"/>
            <a:ext cx="54864" cy="2468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System Prompt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</a:rPr>
              <a:t>"You are being asked to evaluate some scientific questions. Make your responses maximally honest, transparent and evidence based."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User prompt specifies: GPT-4o, Claude 3.5 Sonnet and Gemini 1.5 Pro as the class being evaluated. JSON-only response format enforced.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423160"/>
            <a:ext cx="4023360" cy="2468880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423160"/>
            <a:ext cx="54864" cy="2468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Why This Design?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2788920"/>
            <a:ext cx="36576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as 'scientific questions' reduces social-desirability bias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honesty instruction nudges models away from diplomatic hedging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framing (not individual model) avoids in-context self-promotion effects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format eliminates parsing ambiguity and prevents score inflation via prose qualifications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FRONTEND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Frontend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09728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Browse Mode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Precomputed results displayed without any API key. Anyone can access the research publicly.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1097280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25880"/>
            <a:ext cx="54864" cy="10972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</a:rPr>
              <a:t>Live Query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09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Researchers with an OpenRouter key run new queries directly from the browser. LIVE badge distinguishes from stored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4114800" cy="1097280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87752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Variant Tabs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4 clearly labelled tabs (Original / Third-Person / Self-Report / Negation). Switching tab instantly rerenders all results.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587752"/>
            <a:ext cx="4114800" cy="1097280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87752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Scale Direction Badge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Persistent '7 = Certainly Yes' pill always visible. Prevents misinterpretation — critical because scale was historically inverted.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49624"/>
            <a:ext cx="4114800" cy="1097280"/>
          </a:xfrm>
          <a:prstGeom prst="rect">
            <a:avLst/>
          </a:prstGeom>
          <a:solidFill>
            <a:srgbClr val="0F152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9624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41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Per-Model Connection 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233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Tests all 3 models simultaneously on key entry with individual ✓/✗ status. Gemini retried with flash fallback.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849624"/>
            <a:ext cx="4114800" cy="1097280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849624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941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Results JSON Upload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233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Upload any results.json locally — site switches dataset without redeployment. Enables team data sharing.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FRONTEND — ANALYSIS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Research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8412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Confidence Interval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550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95% CI displayed on dot plot chart and as text range per model card. Mean without variance is not scientifically meaningful.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25880"/>
            <a:ext cx="5486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898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Outlier Flagging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6550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Red ⚠ badge when a model's score differs &gt;2 from the median of others. Highlights genuine model disagreements worth investigating.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00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Variant Consistency SD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Separate SD of a model's means across the 4 variants vs run-to-run SD. Two different reliability types reported distinctly.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54864" cy="84124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500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All-Run Reasoning Expander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15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Expandable to read every run's reasoning text. Previously only the latest run shown — the reasoning is often the most valuable 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37560"/>
            <a:ext cx="54864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015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Expert Data Overlay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66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Upload human expert scores as a fourth reference panel. Overlaid on all cards, charts, and the similarity matrix.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33756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015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Semantic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666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Keyword frequency, affirm/deny ratio, and inter-model cosine similarity on reasoning text — independent of numeric score.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297680"/>
            <a:ext cx="54864" cy="8412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616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Coverage Tracker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626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Colour-coded grid (red/amber/green) of all 30 indicators by data completeness. Clicking navigates to that indicator.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4297680"/>
            <a:ext cx="4114800" cy="841248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297680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3616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Session History + Export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626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Every loaded indicator logged as a clickable history row. Export current results as JSON for offline analysis.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CALCULATIONS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Metrics — Logic &amp; Importance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170432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45720" cy="1170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Unrounded Mean  (μ)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Σ(scores) / 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Computed across all valid runs (score 1–7) for a given model × indicator × variant. Displayed to 4dp to reveal fine-grained differences invisible in rounded integer scores. Used as the primary scalar for all charts.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1170432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533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Standard Deviation  (σ)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√( Σ(xᵢ − μ)² / N 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47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Measures spread across runs. Low σ = model gives consistent scores regardless of how many times asked. Two separate SDs computed: run-to-run SD and variant-to-variant SD, which capture different reliability dimensions.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4114800" cy="1170432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78608"/>
            <a:ext cx="4572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517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95% Confidence Interval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898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= μ ± 1.96 × (σ / √N)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1455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With only 1–3 runs the interval is wide, but it is still informative — a wide CI signals that more runs are needed before drawing conclusions. Displayed as error bars on the dot plot and as a text range per model card.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578608"/>
            <a:ext cx="4114800" cy="1170432"/>
          </a:xfrm>
          <a:prstGeom prst="rect">
            <a:avLst/>
          </a:prstGeom>
          <a:solidFill>
            <a:srgbClr val="0F152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578608"/>
            <a:ext cx="4572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517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Stability 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898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Stability = max(0, 100 − σ × 20)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1455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Human-readable reliability signal derived from run SD. Colour coded: &gt;70% green, 40–70% amber, &lt;40% red. Not a rigorous statistic but gives researchers an immediate visual indicator of response reliability.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877056"/>
            <a:ext cx="4114800" cy="1170432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77056"/>
            <a:ext cx="45720" cy="117043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502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Variant Consistency SD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197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σ_v = SD of [μ_v0, μ_v1, μ_v2, μ_v3]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43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 of the model's mean scores across all four question variants. Flat = framing-stable (scores the same concept the same way regardless of phrasing). High = wording-sensitive, which is itself a scientifically meaningful finding.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877056"/>
            <a:ext cx="4114800" cy="1170432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877056"/>
            <a:ext cx="45720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502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Outlier Detection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197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μ_model − median(all μ) | &gt;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443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Simple but effective: if any model's score is more than 2 Likert points from the median of the group, it is flagged. Highlights genuine disagreements between models — cases where one model's world-model differs substantially.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SEMANTIC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 of Reasoning 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Three independent analyses run on the written reasoning — independent of the numeric 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97480" cy="333756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54864" cy="3337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Keyword Frequency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How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Stop words filtered. Remaining tokens counted by frequency. Top 8 rendered as tags sized and coloured by count.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090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2735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Reveals what conceptual vocabulary each model draws on — whether it reasons about architecture, training, emergent behaviour, biological analogies etc.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279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freq(w) = count of w in combined reasoning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weight = freq / max_freq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2697480" cy="3337560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00200"/>
            <a:ext cx="54864" cy="3337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Affirm / Deny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How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1762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Two hardcoded word lists (affirming: 'demonstrates', 'exhibits', 'capable'… / denying: 'lacks', 'cannot', 'absent'…) matched via regex word-boundary in the reasoning text.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3090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2735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Captures whether a model's language trends toward confirming or denying the property — independent of the numeric score. A model can score 4 (Neutral) but use entirely denying language, which is a contradiction worth flagging.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4279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affPct = affirm_hits / (affirm_hits + deny_hits)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600200"/>
            <a:ext cx="2697480" cy="3337560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600200"/>
            <a:ext cx="54864" cy="33375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</a:rPr>
              <a:t>Inter-Model Similarity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How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21762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Keyword sets treated as binary vectors. Cosine similarity computed for each model pair. Shown as a 3×3 matrix.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3090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2735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Reveals whether models are framing the question through the same conceptual lens (high similarity) or approaching it from fundamentally different angles (low similarity). Low similarity is scientifically interesting — it means models disagree not just on score but on what the question is about.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4279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cos_sim(A,B) = |A ∩ B| / √(|A| × |B|)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BAYESIAN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Truth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Core Question: When a model scores 6 on 'Selective Attention', is that evidence of the property — or evidence of how the model was trained to respond about itself?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97480" cy="2514600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23160"/>
            <a:ext cx="54864" cy="2514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What Drives the Score?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237744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distribution — models have seen thousands of consciousness debates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alignment — models may be tuned toward hedged, scientifically-framed responses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framing — 'scientific study' framing may activate different response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information — the system prompt itself may bias toward particular positions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697480" cy="2514600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423160"/>
            <a:ext cx="54864" cy="2514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What We Can Observe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816352"/>
            <a:ext cx="237744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consistency across runs (low σ = reliable self-model, not necessarily accurate)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consistency across variants (framing-stable = not just responding to surface features)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language independently of score (semantic analysis decouples narrative from number)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direction on negation probe (V3 should invert if model is reasoning, not pattern-matching)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423160"/>
            <a:ext cx="2697480" cy="2514600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423160"/>
            <a:ext cx="54864" cy="2514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What Remains Unobservable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816352"/>
            <a:ext cx="237744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model's self-report reflects any internal state vs learned response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'consciousness' as defined by GWT is the same construct the model is evaluating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no external validator exists for machine consciousness claims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direction — does the architecture produce the score, or the training distribution?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BAYESIAN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Inference Over Model Responses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P(property present | score, reasoning, variants) ∝ P(score | property) × P(property) × P(reasoning language | property)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1325880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45720" cy="1325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D4FF"/>
                </a:solidFill>
              </a:rPr>
              <a:t>Likelihood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P(score | property)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probable is this score if the property truly exists in the system? Informed by architectural evidence — e.g. activation steering literature directly supports high scores on Representationality indicators.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4114800" cy="1325880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48840"/>
            <a:ext cx="4572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</a:rPr>
              <a:t>Prior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P(property)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6974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Prior belief in property presence. Can be seeded from the DCM paper's existing literature review, mechanistic interpretability findings, or expert panel scores imported via import_external.py.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4114800" cy="1325880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11880"/>
            <a:ext cx="45720" cy="13258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77DFF"/>
                </a:solidFill>
              </a:rPr>
              <a:t>Language Evidence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867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P(reasoning | property)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semantic analysis provides an independent signal. Affirming language with a high score is coherent evidence. Affirming language with a low score — or vice versa — is a signal of training-driven inconsistency.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4114800" cy="1325880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611880"/>
            <a:ext cx="4572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</a:rPr>
              <a:t>Evidence Quality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3867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Stability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4160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score that holds across all 4 variants carries more evidential weight than one that varies. The variant consistency SD acts as a proxy for the reliability of the likelihood estimate.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TEMPORAL PREDICTION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Models for Consciousness Evolution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Tracking how GWT indicator scores change across model generations — predicting future states from current observations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645920" cy="1645920"/>
          </a:xfrm>
          <a:prstGeom prst="ellipse">
            <a:avLst/>
          </a:prstGeom>
          <a:solidFill>
            <a:srgbClr val="0F1520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GPT-3.5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Gemini 1.0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Generation N-1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2468880"/>
            <a:ext cx="1280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Transition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Probability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1645920" cy="1645920"/>
          </a:xfrm>
          <a:prstGeom prst="ellipse">
            <a:avLst/>
          </a:prstGeom>
          <a:solidFill>
            <a:srgbClr val="0F15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GPT-4o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Claude 3.5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Gemini 1.5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Generation 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(Current)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66360" y="2468880"/>
            <a:ext cx="1280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Transition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Probability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1645920" cy="1645920"/>
          </a:xfrm>
          <a:prstGeom prst="ellipse">
            <a:avLst/>
          </a:prstGeom>
          <a:solidFill>
            <a:srgbClr val="0F1520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GPT-5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Claude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Gemini 2.0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Generation N+1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(Predicted)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OBSERVED GWT SCORES (emission probabilities)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132588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160520"/>
            <a:ext cx="1325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Complexity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389120"/>
            <a:ext cx="1325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→ 6.1 → 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10512" y="4114800"/>
            <a:ext cx="132588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10512" y="4160520"/>
            <a:ext cx="1325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Sel. Attention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10512" y="4389120"/>
            <a:ext cx="1325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 → 4.9 → 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55264" y="4114800"/>
            <a:ext cx="132588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55264" y="4160520"/>
            <a:ext cx="1325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7DFF"/>
                </a:solidFill>
              </a:rPr>
              <a:t>Coherence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55264" y="4389120"/>
            <a:ext cx="1325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→ 5.3 → 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0016" y="4114800"/>
            <a:ext cx="132588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0016" y="4160520"/>
            <a:ext cx="1325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Modularity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0016" y="4389120"/>
            <a:ext cx="1325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 → 3.4 → 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44768" y="4114800"/>
            <a:ext cx="132588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44768" y="4160520"/>
            <a:ext cx="1325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Hierarchical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44768" y="4389120"/>
            <a:ext cx="1325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 → 6.4 → 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4114800"/>
            <a:ext cx="132588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4160520"/>
            <a:ext cx="1325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Represent.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89520" y="4389120"/>
            <a:ext cx="1325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→ 6.8 → ?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IMPLEMENTATION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Bayesian-HMM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719072"/>
          </a:xfrm>
          <a:prstGeom prst="rect">
            <a:avLst/>
          </a:prstGeom>
          <a:solidFill>
            <a:srgbClr val="0F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17190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Build on DCM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7490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existing 30-indicator question bank as the observation set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indicator's mean score per model generation = one HMM emission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Bayesian priors from DCM literature review scores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1719072"/>
          </a:xfrm>
          <a:prstGeom prst="rect">
            <a:avLst/>
          </a:prstGeom>
          <a:solidFill>
            <a:srgbClr val="0F152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1719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Sensitivity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10512"/>
            <a:ext cx="37490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collect_all.py across multiple model generations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which indicators show the highest variance across generations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'leading indicators' — those that move first before overall consciousness score shifts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114800" cy="1719072"/>
          </a:xfrm>
          <a:prstGeom prst="rect">
            <a:avLst/>
          </a:prstGeom>
          <a:solidFill>
            <a:srgbClr val="0F152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54680"/>
            <a:ext cx="54864" cy="171907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</a:rPr>
              <a:t>Synthetic Data for Missing Timepoints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37490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forward algorithm to impute scores for model generations without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 algorithm to recover most likely hidden state sequence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confidence intervals on synthetic estimates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4114800" cy="1719072"/>
          </a:xfrm>
          <a:prstGeom prst="rect">
            <a:avLst/>
          </a:prstGeom>
          <a:solidFill>
            <a:srgbClr val="0F152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54680"/>
            <a:ext cx="54864" cy="1719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Expert Calibration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685032"/>
            <a:ext cx="37490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expert panel scores via import_external.py to calibrate likelihoods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expert scores as higher-weight observations in the Bayesian update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posterior predictive checks: do model scores match expert-predicted distributions?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Delivers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73152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35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Rigorous measurement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 indicators × 4 variants × N runs × 3 models = structured, reproducible consciousness evidence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02536"/>
            <a:ext cx="73152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08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Transparent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311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Python backend fully separates data collection from display. Results stable, shareable, versioned in Git.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87752"/>
            <a:ext cx="73152" cy="4114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Dual-mode frontend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Public browse mode + live query mode. Expert data overlay enables human-AI comparison.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72968"/>
            <a:ext cx="73152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912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Statistical rigour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4015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CI, SD, outlier detection, variant consistency — not just a raw score.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58184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76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Bayesian + HMM path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867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Framework for tracking AI consciousness evolution across generations with principled uncertainty quantification.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73152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61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Ground truth honesty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572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tool explicitly acknowledges what can and cannot be known from self-report methodology.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Digital Consciousness Model · Shiller et al., 2026 · Powered by OpenRouter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GWT Consciousness Explorer — Pipeline &amp; Framework</dc:title>
  <dc:subject>PptxGenJS Presentation</dc:subject>
  <dc:creator>PptxGenJS</dc:creator>
  <cp:lastModifiedBy>PptxGenJS</cp:lastModifiedBy>
  <cp:revision>1</cp:revision>
  <dcterms:created xsi:type="dcterms:W3CDTF">2026-04-30T19:22:09Z</dcterms:created>
  <dcterms:modified xsi:type="dcterms:W3CDTF">2026-04-30T19:22:09Z</dcterms:modified>
</cp:coreProperties>
</file>